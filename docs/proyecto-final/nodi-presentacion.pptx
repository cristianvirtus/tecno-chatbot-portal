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8.png"/><Relationship Id="rId9" Type="http://schemas.openxmlformats.org/officeDocument/2006/relationships/image" Target="../media/image5.png"/><Relationship Id="rId10" Type="http://schemas.openxmlformats.org/officeDocument/2006/relationships/image" Target="../media/image10.png"/><Relationship Id="rId11" Type="http://schemas.openxmlformats.org/officeDocument/2006/relationships/image" Target="../media/image4.png"/><Relationship Id="rId12" Type="http://schemas.openxmlformats.org/officeDocument/2006/relationships/image" Target="../media/image3.png"/><Relationship Id="rId13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15.png"/><Relationship Id="rId7" Type="http://schemas.openxmlformats.org/officeDocument/2006/relationships/image" Target="../media/image6.png"/><Relationship Id="rId8" Type="http://schemas.openxmlformats.org/officeDocument/2006/relationships/image" Target="../media/image22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13.png"/><Relationship Id="rId4" Type="http://schemas.openxmlformats.org/officeDocument/2006/relationships/image" Target="../media/image29.png"/><Relationship Id="rId5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3.png"/><Relationship Id="rId7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6766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FB5604"/>
                </a:solidFill>
                <a:latin typeface="Calibri"/>
              </a:rPr>
              <a:t>PROYECTO FINAL · AI AGENTIC ENGINEER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1417320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9600" b="1" i="0">
                <a:solidFill>
                  <a:srgbClr val="FFFFFF"/>
                </a:solidFill>
                <a:latin typeface="Calibri"/>
              </a:rPr>
              <a:t>Nodi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C48C"/>
                </a:solidFill>
                <a:latin typeface="Calibri"/>
              </a:rPr>
              <a:t>Mentor de tecnología con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6126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7A9BB5"/>
                </a:solidFill>
                <a:latin typeface="Calibri"/>
              </a:rPr>
              <a:t>Un mini-agente educativo que conversa por texto o voz, consulta conocimiento real y muestra visualmente cómo construye cada respuesta.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26280"/>
            <a:ext cx="1385864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 herramienta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8280" y="4526280"/>
            <a:ext cx="1015715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RAG local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72012" y="4526280"/>
            <a:ext cx="1015715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Streaming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15743" y="4526280"/>
            <a:ext cx="645566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CI/CD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Cristian Inda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7900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A9BB5"/>
                </a:solidFill>
                <a:latin typeface="Calibri"/>
              </a:rPr>
              <a:t>tecno-chatbot-portal.vercel.app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9646920" y="1645920"/>
            <a:ext cx="0" cy="1783080"/>
          </a:xfrm>
          <a:prstGeom prst="line">
            <a:avLst/>
          </a:prstGeom>
          <a:ln w="15875">
            <a:solidFill>
              <a:srgbClr val="1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646920" y="2537460"/>
            <a:ext cx="1544192" cy="891540"/>
          </a:xfrm>
          <a:prstGeom prst="line">
            <a:avLst/>
          </a:prstGeom>
          <a:ln w="15875">
            <a:solidFill>
              <a:srgbClr val="1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46920" y="3429000"/>
            <a:ext cx="1544192" cy="891540"/>
          </a:xfrm>
          <a:prstGeom prst="line">
            <a:avLst/>
          </a:prstGeom>
          <a:ln w="15875">
            <a:solidFill>
              <a:srgbClr val="1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46920" y="3429000"/>
            <a:ext cx="0" cy="1783080"/>
          </a:xfrm>
          <a:prstGeom prst="line">
            <a:avLst/>
          </a:prstGeom>
          <a:ln w="15875">
            <a:solidFill>
              <a:srgbClr val="1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102727" y="3429000"/>
            <a:ext cx="1544193" cy="891540"/>
          </a:xfrm>
          <a:prstGeom prst="line">
            <a:avLst/>
          </a:prstGeom>
          <a:ln w="15875">
            <a:solidFill>
              <a:srgbClr val="1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8102727" y="2537460"/>
            <a:ext cx="1544193" cy="891540"/>
          </a:xfrm>
          <a:prstGeom prst="line">
            <a:avLst/>
          </a:prstGeom>
          <a:ln w="15875">
            <a:solidFill>
              <a:srgbClr val="1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53728" y="1252728"/>
            <a:ext cx="786384" cy="786384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 w="12700">
            <a:solidFill>
              <a:srgbClr val="2A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0" name="Picture 19" descr="user-00C48C-128-1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896" y="1453896"/>
            <a:ext cx="384048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23960" y="2103120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A9BB5"/>
                </a:solidFill>
                <a:latin typeface="Calibri"/>
              </a:rPr>
              <a:t>Pregunta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97920" y="2144268"/>
            <a:ext cx="786384" cy="786384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 w="12700">
            <a:solidFill>
              <a:srgbClr val="2A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3" name="Picture 22" descr="mic-00C48C-128-1.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9088" y="2345436"/>
            <a:ext cx="384048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368152" y="2994660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A9BB5"/>
                </a:solidFill>
                <a:latin typeface="Calibri"/>
              </a:rPr>
              <a:t>Voz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97920" y="3927348"/>
            <a:ext cx="786384" cy="786384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 w="12700">
            <a:solidFill>
              <a:srgbClr val="2A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6" name="Picture 25" descr="model-00C48C-128-1.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9088" y="4128515"/>
            <a:ext cx="384048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368152" y="4777740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A9BB5"/>
                </a:solidFill>
                <a:latin typeface="Calibri"/>
              </a:rPr>
              <a:t>Claude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53728" y="4818888"/>
            <a:ext cx="786384" cy="786384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 w="12700">
            <a:solidFill>
              <a:srgbClr val="2A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9" name="Picture 28" descr="database-00C48C-128-1.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4896" y="5020056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823960" y="5669280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A9BB5"/>
                </a:solidFill>
                <a:latin typeface="Calibri"/>
              </a:rPr>
              <a:t>Corpus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09535" y="3927348"/>
            <a:ext cx="786384" cy="786384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 w="12700">
            <a:solidFill>
              <a:srgbClr val="2A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2" name="Picture 31" descr="stream-00C48C-128-1.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0703" y="4128515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79767" y="4777740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A9BB5"/>
                </a:solidFill>
                <a:latin typeface="Calibri"/>
              </a:rPr>
              <a:t>Stream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09535" y="2144268"/>
            <a:ext cx="786384" cy="786384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 w="12700">
            <a:solidFill>
              <a:srgbClr val="2A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5" name="Picture 34" descr="pipeline-00C48C-128-1.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0703" y="2345436"/>
            <a:ext cx="384048" cy="38404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279767" y="2994660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A9BB5"/>
                </a:solidFill>
                <a:latin typeface="Calibri"/>
              </a:rPr>
              <a:t>CI/CD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92540" y="2674620"/>
            <a:ext cx="1508760" cy="1508760"/>
          </a:xfrm>
          <a:prstGeom prst="roundRect">
            <a:avLst>
              <a:gd name="adj" fmla="val 50000"/>
            </a:avLst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8" name="Picture 37" descr="agent-FFFFFF-128-1.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2872" y="304495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B5604"/>
                </a:solidFill>
                <a:latin typeface="Calibri"/>
              </a:rPr>
              <a:t>RUTA DE LA PRESENTACIÓN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97776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7A9BB5"/>
                </a:solidFill>
                <a:latin typeface="Calibri"/>
              </a:rPr>
              <a:t>Del problema al producto desplegado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8404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A4A65"/>
                </a:solidFill>
                <a:latin typeface="Calibri"/>
              </a:rPr>
              <a:t>02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5391759" cy="749808"/>
          </a:xfrm>
          <a:prstGeom prst="roundRect">
            <a:avLst>
              <a:gd name="adj" fmla="val 12195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2029967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B5604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2020824"/>
            <a:ext cx="3562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Reto y solución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2295144"/>
            <a:ext cx="3562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A9BB5"/>
                </a:solidFill>
                <a:latin typeface="Calibri"/>
              </a:rPr>
              <a:t>Por qué existe Nodi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45455" y="2029967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12" name="Picture 11" descr="spark-00C48C-128-1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794" y="2135306"/>
            <a:ext cx="228234" cy="22823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33007" y="1874519"/>
            <a:ext cx="5391759" cy="749808"/>
          </a:xfrm>
          <a:prstGeom prst="roundRect">
            <a:avLst>
              <a:gd name="adj" fmla="val 12195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89039" y="2029967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B5604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1687" y="2020824"/>
            <a:ext cx="3562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Demo end-to-end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295144"/>
            <a:ext cx="3562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A9BB5"/>
                </a:solidFill>
                <a:latin typeface="Calibri"/>
              </a:rPr>
              <a:t>La experiencia en vivo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11535" y="2029967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18" name="Picture 17" descr="play-00C48C-128-1.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874" y="2135306"/>
            <a:ext cx="228234" cy="22823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66928" y="2825496"/>
            <a:ext cx="5391759" cy="749808"/>
          </a:xfrm>
          <a:prstGeom prst="roundRect">
            <a:avLst>
              <a:gd name="adj" fmla="val 12195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298094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B5604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7" y="2971800"/>
            <a:ext cx="3562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Arquitectura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7" y="3246120"/>
            <a:ext cx="3562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A9BB5"/>
                </a:solidFill>
                <a:latin typeface="Calibri"/>
              </a:rPr>
              <a:t>Qué ocurre detrás de cada respuesta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45455" y="298094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4" name="Picture 23" descr="layers-00C48C-128-1.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794" y="3086282"/>
            <a:ext cx="228234" cy="228234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233007" y="2825496"/>
            <a:ext cx="5391759" cy="749808"/>
          </a:xfrm>
          <a:prstGeom prst="roundRect">
            <a:avLst>
              <a:gd name="adj" fmla="val 12195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89039" y="298094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B5604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1687" y="2971800"/>
            <a:ext cx="3562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Inteligencia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3246120"/>
            <a:ext cx="3562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A9BB5"/>
                </a:solidFill>
                <a:latin typeface="Calibri"/>
              </a:rPr>
              <a:t>Tool use, prompt y RAG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11535" y="298094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0" name="Picture 29" descr="model-00C48C-128-1.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6874" y="3086282"/>
            <a:ext cx="228234" cy="228234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566928" y="3776472"/>
            <a:ext cx="5391759" cy="749808"/>
          </a:xfrm>
          <a:prstGeom prst="roundRect">
            <a:avLst>
              <a:gd name="adj" fmla="val 12195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39319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B5604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607" y="3922776"/>
            <a:ext cx="3562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Calidad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35607" y="4197096"/>
            <a:ext cx="3562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A9BB5"/>
                </a:solidFill>
                <a:latin typeface="Calibri"/>
              </a:rPr>
              <a:t>Pruebas automatizadas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45455" y="39319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6" name="Picture 35" descr="shield-00C48C-128-1.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0794" y="4037258"/>
            <a:ext cx="228234" cy="228234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233007" y="3776472"/>
            <a:ext cx="5391759" cy="749808"/>
          </a:xfrm>
          <a:prstGeom prst="roundRect">
            <a:avLst>
              <a:gd name="adj" fmla="val 12195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89039" y="39319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B5604"/>
                </a:solidFill>
                <a:latin typeface="Calibr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01687" y="3922776"/>
            <a:ext cx="3562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DevOps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1687" y="4197096"/>
            <a:ext cx="3562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A9BB5"/>
                </a:solidFill>
                <a:latin typeface="Calibri"/>
              </a:rPr>
              <a:t>De GitHub a Vercel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11535" y="39319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42" name="Picture 41" descr="pipeline-00C48C-128-1.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6874" y="4037258"/>
            <a:ext cx="228234" cy="228234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566928" y="4837176"/>
            <a:ext cx="11057839" cy="841248"/>
          </a:xfrm>
          <a:prstGeom prst="roundRect">
            <a:avLst>
              <a:gd name="adj" fmla="val 10869"/>
            </a:avLst>
          </a:prstGeom>
          <a:solidFill>
            <a:srgbClr val="0D2B45"/>
          </a:solidFill>
          <a:ln w="12700">
            <a:solidFill>
              <a:srgbClr val="FB56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41247" y="4992624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FB5604"/>
                </a:solidFill>
                <a:latin typeface="Calibri"/>
              </a:rPr>
              <a:t>IDEA CONDUCTORA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7" y="523951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Una función · un corpus · un stream · un push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55664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A4A65"/>
                </a:solidFill>
                <a:latin typeface="Calibri"/>
              </a:rPr>
              <a:t>Nodi · Proyecto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B5604"/>
                </a:solidFill>
                <a:latin typeface="Calibri"/>
              </a:rPr>
              <a:t>01 · RETO Y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 i="0">
                <a:solidFill>
                  <a:srgbClr val="FFFFFF"/>
                </a:solidFill>
                <a:latin typeface="Calibri"/>
              </a:rPr>
              <a:t>Aprender tecnología también puede ser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97776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7A9BB5"/>
                </a:solidFill>
                <a:latin typeface="Calibri"/>
              </a:rPr>
              <a:t>El reto: convertir una respuesta de IA en una experiencia didáctica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8404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A4A65"/>
                </a:solidFill>
                <a:latin typeface="Calibri"/>
              </a:rPr>
              <a:t>03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5094579" cy="3520440"/>
          </a:xfrm>
          <a:prstGeom prst="roundRect">
            <a:avLst>
              <a:gd name="adj" fmla="val 3116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86968" y="2286000"/>
            <a:ext cx="548640" cy="548640"/>
          </a:xfrm>
          <a:prstGeom prst="roundRect">
            <a:avLst>
              <a:gd name="adj" fmla="val 16666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9" name="Picture 8" descr="user-7A9BB5-128-1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41" y="2417673"/>
            <a:ext cx="285292" cy="2852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6968" y="2990088"/>
            <a:ext cx="44544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383280"/>
            <a:ext cx="44544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A9BB5"/>
                </a:solidFill>
                <a:latin typeface="Calibri"/>
              </a:rPr>
              <a:t>Los conceptos técnicos llegan como bloques de texto: sin recorrido visual y sin saber de dónde salió la información.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4434840"/>
            <a:ext cx="4454499" cy="777240"/>
          </a:xfrm>
          <a:prstGeom prst="roundRect">
            <a:avLst>
              <a:gd name="adj" fmla="val 11764"/>
            </a:avLst>
          </a:prstGeom>
          <a:solidFill>
            <a:srgbClr val="02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69848" y="4581144"/>
            <a:ext cx="40887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120">
                <a:solidFill>
                  <a:srgbClr val="FB5604"/>
                </a:solidFill>
                <a:latin typeface="Calibri"/>
              </a:rPr>
              <a:t>FRICCIÓN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4809744"/>
            <a:ext cx="4088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FFFFFF"/>
                </a:solidFill>
                <a:latin typeface="Calibri"/>
              </a:rPr>
              <a:t>“Entiendo la definición, pero no veo el flujo.”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80379" y="3693261"/>
            <a:ext cx="502920" cy="20116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6283299" y="3643884"/>
            <a:ext cx="118872" cy="118872"/>
          </a:xfrm>
          <a:prstGeom prst="triangle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0187" y="1965960"/>
            <a:ext cx="5094579" cy="3520440"/>
          </a:xfrm>
          <a:prstGeom prst="roundRect">
            <a:avLst>
              <a:gd name="adj" fmla="val 3116"/>
            </a:avLst>
          </a:prstGeom>
          <a:solidFill>
            <a:srgbClr val="0D2B45"/>
          </a:solidFill>
          <a:ln w="12700">
            <a:solidFill>
              <a:srgbClr val="FB56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850227" y="2286000"/>
            <a:ext cx="548640" cy="548640"/>
          </a:xfrm>
          <a:prstGeom prst="roundRect">
            <a:avLst>
              <a:gd name="adj" fmla="val 16666"/>
            </a:avLst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19" name="Picture 18" descr="agent-FFFFFF-128-1.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901" y="2417673"/>
            <a:ext cx="285292" cy="2852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50227" y="2990088"/>
            <a:ext cx="44544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La solución: Nodi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0227" y="3383280"/>
            <a:ext cx="44544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A9BB5"/>
                </a:solidFill>
                <a:latin typeface="Calibri"/>
              </a:rPr>
              <a:t>Un mentor que responde con fundamento y enseña el camino que recorrió.</a:t>
            </a:r>
          </a:p>
        </p:txBody>
      </p:sp>
      <p:pic>
        <p:nvPicPr>
          <p:cNvPr id="22" name="Picture 21" descr="mic-00C48C-128-1.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227" y="4151376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97699" y="4142232"/>
            <a:ext cx="177004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Texto y voz</a:t>
            </a:r>
          </a:p>
        </p:txBody>
      </p:sp>
      <p:pic>
        <p:nvPicPr>
          <p:cNvPr id="24" name="Picture 23" descr="database-00C48C-128-1.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8917" y="4151376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516389" y="4142232"/>
            <a:ext cx="177004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RAG real</a:t>
            </a:r>
          </a:p>
        </p:txBody>
      </p:sp>
      <p:pic>
        <p:nvPicPr>
          <p:cNvPr id="26" name="Picture 25" descr="stream-00C48C-128-1.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0227" y="4626864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197699" y="4617720"/>
            <a:ext cx="177004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Respuesta en vivo</a:t>
            </a:r>
          </a:p>
        </p:txBody>
      </p:sp>
      <p:pic>
        <p:nvPicPr>
          <p:cNvPr id="28" name="Picture 27" descr="pipeline-00C48C-128-1.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8917" y="4626864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16389" y="4617720"/>
            <a:ext cx="177004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Flujo visible</a:t>
            </a:r>
          </a:p>
        </p:txBody>
      </p:sp>
      <p:pic>
        <p:nvPicPr>
          <p:cNvPr id="30" name="Picture 29" descr="spark-00C48C-128-1.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0227" y="5102352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97699" y="5093208"/>
            <a:ext cx="177004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Infografías</a:t>
            </a:r>
          </a:p>
        </p:txBody>
      </p:sp>
      <p:pic>
        <p:nvPicPr>
          <p:cNvPr id="32" name="Picture 31" descr="shield-00C48C-128-1.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8917" y="5102352"/>
            <a:ext cx="237744" cy="23774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516389" y="5093208"/>
            <a:ext cx="177004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Solo temas tech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55664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A4A65"/>
                </a:solidFill>
                <a:latin typeface="Calibri"/>
              </a:rPr>
              <a:t>Nodi · Proyecto final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B5604"/>
                </a:solidFill>
                <a:latin typeface="Calibri"/>
              </a:rPr>
              <a:t>02 · DEMO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 i="0">
                <a:solidFill>
                  <a:srgbClr val="FFFFFF"/>
                </a:solidFill>
                <a:latin typeface="Calibri"/>
              </a:rPr>
              <a:t>Cuatro momentos para demostrar el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97776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7A9BB5"/>
                </a:solidFill>
                <a:latin typeface="Calibri"/>
              </a:rPr>
              <a:t>Funcionamiento real, datos reales e inteligencia con fundamento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8404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A4A65"/>
                </a:solidFill>
                <a:latin typeface="Calibri"/>
              </a:rPr>
              <a:t>04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2531287" cy="2834640"/>
          </a:xfrm>
          <a:prstGeom prst="roundRect">
            <a:avLst>
              <a:gd name="adj" fmla="val 4334"/>
            </a:avLst>
          </a:prstGeom>
          <a:solidFill>
            <a:srgbClr val="0A2540"/>
          </a:solidFill>
          <a:ln w="12700">
            <a:solidFill>
              <a:srgbClr val="FB56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22960" y="2240279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9" name="Picture 8" descr="search-FFFFFF-128-1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55" y="2363175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49575" y="229514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2A4A65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20192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RAG con acierto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91839"/>
            <a:ext cx="2019223" cy="384048"/>
          </a:xfrm>
          <a:prstGeom prst="roundRect">
            <a:avLst>
              <a:gd name="adj" fmla="val 19047"/>
            </a:avLst>
          </a:prstGeom>
          <a:solidFill>
            <a:srgbClr val="02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383280"/>
            <a:ext cx="17997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C48C"/>
                </a:solidFill>
                <a:latin typeface="Calibri"/>
              </a:rPr>
              <a:t>“¿Qué es Git?”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13048"/>
            <a:ext cx="201922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7A9BB5"/>
                </a:solidFill>
                <a:latin typeface="Calibri"/>
              </a:rPr>
              <a:t>Se activan la herramienta y el corpus; la respuesta cita fragmentos reales.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3079" y="3373221"/>
            <a:ext cx="100584" cy="20116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3253663" y="3332988"/>
            <a:ext cx="100584" cy="100584"/>
          </a:xfrm>
          <a:prstGeom prst="triangle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09111" y="1965960"/>
            <a:ext cx="2531287" cy="2834640"/>
          </a:xfrm>
          <a:prstGeom prst="roundRect">
            <a:avLst>
              <a:gd name="adj" fmla="val 4334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3665143" y="2240279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19" name="Picture 18" descr="database-00C48C-128-1.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039" y="2363175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91759" y="229514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2A4A65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5143" y="2926080"/>
            <a:ext cx="20192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RAG sin resultado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65143" y="3291839"/>
            <a:ext cx="2019223" cy="384048"/>
          </a:xfrm>
          <a:prstGeom prst="roundRect">
            <a:avLst>
              <a:gd name="adj" fmla="val 19047"/>
            </a:avLst>
          </a:prstGeom>
          <a:solidFill>
            <a:srgbClr val="02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774871" y="3383280"/>
            <a:ext cx="17997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C48C"/>
                </a:solidFill>
                <a:latin typeface="Calibri"/>
              </a:rPr>
              <a:t>“¿Qué es ITIL?”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5143" y="3813048"/>
            <a:ext cx="201922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7A9BB5"/>
                </a:solidFill>
                <a:latin typeface="Calibri"/>
              </a:rPr>
              <a:t>La herramienta corre, no hay coincidencias y Nodi lo admite.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95263" y="3373221"/>
            <a:ext cx="100584" cy="20116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5400000">
            <a:off x="6095847" y="3332988"/>
            <a:ext cx="100584" cy="100584"/>
          </a:xfrm>
          <a:prstGeom prst="triangle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51295" y="1965960"/>
            <a:ext cx="2531287" cy="2834640"/>
          </a:xfrm>
          <a:prstGeom prst="roundRect">
            <a:avLst>
              <a:gd name="adj" fmla="val 4334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507327" y="2240279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9" name="Picture 28" descr="shield-00C48C-128-1.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222" y="2363175"/>
            <a:ext cx="266273" cy="26627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33943" y="229514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2A4A65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7327" y="2926080"/>
            <a:ext cx="20192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Límite temático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07327" y="3291839"/>
            <a:ext cx="2019223" cy="384048"/>
          </a:xfrm>
          <a:prstGeom prst="roundRect">
            <a:avLst>
              <a:gd name="adj" fmla="val 19047"/>
            </a:avLst>
          </a:prstGeom>
          <a:solidFill>
            <a:srgbClr val="02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17055" y="3383280"/>
            <a:ext cx="17997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C48C"/>
                </a:solidFill>
                <a:latin typeface="Calibri"/>
              </a:rPr>
              <a:t>“Dame una receta”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7327" y="3813048"/>
            <a:ext cx="201922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7A9BB5"/>
                </a:solidFill>
                <a:latin typeface="Calibri"/>
              </a:rPr>
              <a:t>No llama la herramienta y redirige la conversación a tecnología.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37447" y="3373221"/>
            <a:ext cx="100584" cy="20116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8938031" y="3332988"/>
            <a:ext cx="100584" cy="100584"/>
          </a:xfrm>
          <a:prstGeom prst="triangle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93479" y="1965960"/>
            <a:ext cx="2531287" cy="2834640"/>
          </a:xfrm>
          <a:prstGeom prst="roundRect">
            <a:avLst>
              <a:gd name="adj" fmla="val 4334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9349511" y="2240279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9" name="Picture 38" descr="mic-00C48C-128-1.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2406" y="2363175"/>
            <a:ext cx="266273" cy="26627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1076127" y="229514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2A4A65"/>
                </a:solidFill>
                <a:latin typeface="Calibr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9511" y="2926080"/>
            <a:ext cx="20192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Interacción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49511" y="3291839"/>
            <a:ext cx="2019223" cy="384048"/>
          </a:xfrm>
          <a:prstGeom prst="roundRect">
            <a:avLst>
              <a:gd name="adj" fmla="val 19047"/>
            </a:avLst>
          </a:prstGeom>
          <a:solidFill>
            <a:srgbClr val="02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459239" y="3383280"/>
            <a:ext cx="179976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C48C"/>
                </a:solidFill>
                <a:latin typeface="Calibri"/>
              </a:rPr>
              <a:t>Micrófono o chip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9511" y="3813048"/>
            <a:ext cx="201922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7A9BB5"/>
                </a:solidFill>
                <a:latin typeface="Calibri"/>
              </a:rPr>
              <a:t>Tema relacionado como pregunta y avatar leyendo el resumen.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074920"/>
            <a:ext cx="11057839" cy="914400"/>
          </a:xfrm>
          <a:prstGeom prst="roundRect">
            <a:avLst>
              <a:gd name="adj" fmla="val 10000"/>
            </a:avLst>
          </a:prstGeom>
          <a:solidFill>
            <a:srgbClr val="0D2B45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841247" y="527608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47" name="Picture 46" descr="play-020F1C-128-1.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143" y="5398983"/>
            <a:ext cx="266273" cy="26627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27048" y="5276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Momento principal: la aplicación publicada, en vivo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27048" y="5586983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A9BB5"/>
                </a:solidFill>
                <a:latin typeface="Calibri"/>
              </a:rPr>
              <a:t>tecno-chatbot-portal.vercel.app · no es una grabación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481767" y="5376672"/>
            <a:ext cx="889528" cy="310896"/>
          </a:xfrm>
          <a:prstGeom prst="roundRect">
            <a:avLst>
              <a:gd name="adj" fmla="val 50000"/>
            </a:avLst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≈ 3 min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6455664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A4A65"/>
                </a:solidFill>
                <a:latin typeface="Calibri"/>
              </a:rPr>
              <a:t>Nodi · Proyecto final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B5604"/>
                </a:solidFill>
                <a:latin typeface="Calibri"/>
              </a:rPr>
              <a:t>03 · ARQUITECTURA TECNOLÓGICA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 i="0">
                <a:solidFill>
                  <a:srgbClr val="FFFFFF"/>
                </a:solidFill>
                <a:latin typeface="Calibri"/>
              </a:rPr>
              <a:t>De una pregunta a una explicación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97776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7A9BB5"/>
                </a:solidFill>
                <a:latin typeface="Calibri"/>
              </a:rPr>
              <a:t>Tres fronteras claras: navegador, servidor Next.js y servicio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8404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A4A65"/>
                </a:solidFill>
                <a:latin typeface="Calibri"/>
              </a:rPr>
              <a:t>05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1755648" cy="1060704"/>
          </a:xfrm>
          <a:prstGeom prst="roundRect">
            <a:avLst>
              <a:gd name="adj" fmla="val 8620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8" name="Picture 7" descr="user-00C48C-128-1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2020824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2386584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Usuario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24327"/>
            <a:ext cx="16459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7A9BB5"/>
                </a:solidFill>
                <a:latin typeface="Calibri"/>
              </a:rPr>
              <a:t>texto o voz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68296" y="2394813"/>
            <a:ext cx="359587" cy="20116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2727883" y="2345436"/>
            <a:ext cx="118872" cy="118872"/>
          </a:xfrm>
          <a:prstGeom prst="triangle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92475" y="1874519"/>
            <a:ext cx="1755648" cy="1060704"/>
          </a:xfrm>
          <a:prstGeom prst="roundRect">
            <a:avLst>
              <a:gd name="adj" fmla="val 8620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14" name="Picture 13" descr="browser-00C48C-128-1.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995" y="2020824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47339" y="2386584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ChatApp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7339" y="2624327"/>
            <a:ext cx="16459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7A9BB5"/>
                </a:solidFill>
                <a:latin typeface="Calibri"/>
              </a:rPr>
              <a:t>React · Web Speech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93843" y="2394813"/>
            <a:ext cx="359587" cy="20116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5053431" y="2345436"/>
            <a:ext cx="118872" cy="118872"/>
          </a:xfrm>
          <a:prstGeom prst="triangle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18023" y="1874519"/>
            <a:ext cx="1755648" cy="1060704"/>
          </a:xfrm>
          <a:prstGeom prst="roundRect">
            <a:avLst>
              <a:gd name="adj" fmla="val 8620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0" name="Picture 19" descr="code-00C48C-128-1.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543" y="2020824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72887" y="2386584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/api/chat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2887" y="2624327"/>
            <a:ext cx="16459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7A9BB5"/>
                </a:solidFill>
                <a:latin typeface="Calibri"/>
              </a:rPr>
              <a:t>Next.js · Node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19391" y="2394813"/>
            <a:ext cx="359587" cy="20116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5400000">
            <a:off x="7378979" y="2345436"/>
            <a:ext cx="118872" cy="118872"/>
          </a:xfrm>
          <a:prstGeom prst="triangle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43571" y="1874519"/>
            <a:ext cx="1755648" cy="1060704"/>
          </a:xfrm>
          <a:prstGeom prst="roundRect">
            <a:avLst>
              <a:gd name="adj" fmla="val 8620"/>
            </a:avLst>
          </a:prstGeom>
          <a:solidFill>
            <a:srgbClr val="FB5604"/>
          </a:solidFill>
          <a:ln w="12700">
            <a:solidFill>
              <a:srgbClr val="FB56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6" name="Picture 25" descr="model-FFFFFF-128-1.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091" y="2020824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98435" y="2386584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Claude Haiku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98435" y="2624327"/>
            <a:ext cx="16459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razona y pide tool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44939" y="2394813"/>
            <a:ext cx="359587" cy="20116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5400000">
            <a:off x="9704527" y="2345436"/>
            <a:ext cx="118872" cy="118872"/>
          </a:xfrm>
          <a:prstGeom prst="triangle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869119" y="1874519"/>
            <a:ext cx="1755648" cy="1060704"/>
          </a:xfrm>
          <a:prstGeom prst="roundRect">
            <a:avLst>
              <a:gd name="adj" fmla="val 8620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2" name="Picture 31" descr="tool-00C48C-128-1.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0639" y="2020824"/>
            <a:ext cx="292608" cy="29260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923983" y="2386584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1 herramienta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3983" y="2624327"/>
            <a:ext cx="16459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7A9BB5"/>
                </a:solidFill>
                <a:latin typeface="Calibri"/>
              </a:rPr>
              <a:t>consulta el corpus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36884" y="2990088"/>
            <a:ext cx="20116" cy="283464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10800000">
            <a:off x="10687507" y="3273552"/>
            <a:ext cx="118872" cy="118872"/>
          </a:xfrm>
          <a:prstGeom prst="triangle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1759" y="3063240"/>
            <a:ext cx="1600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7A9BB5"/>
                </a:solidFill>
                <a:latin typeface="Calibri"/>
              </a:rPr>
              <a:t>la herramienta lee el corpus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3447288"/>
            <a:ext cx="1755648" cy="1060704"/>
          </a:xfrm>
          <a:prstGeom prst="roundRect">
            <a:avLst>
              <a:gd name="adj" fmla="val 8620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9" name="Picture 38" descr="agent-00C48C-128-1.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8448" y="3593592"/>
            <a:ext cx="292608" cy="29260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21792" y="3959352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Avatar y voz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4197096"/>
            <a:ext cx="16459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7A9BB5"/>
                </a:solidFill>
                <a:latin typeface="Calibri"/>
              </a:rPr>
              <a:t>lee el resumen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87168" y="3967581"/>
            <a:ext cx="359587" cy="20116"/>
          </a:xfrm>
          <a:prstGeom prst="rect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 rot="16200000">
            <a:off x="2368296" y="3918203"/>
            <a:ext cx="118872" cy="118872"/>
          </a:xfrm>
          <a:prstGeom prst="triangle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892475" y="3447288"/>
            <a:ext cx="1755648" cy="1060704"/>
          </a:xfrm>
          <a:prstGeom prst="roundRect">
            <a:avLst>
              <a:gd name="adj" fmla="val 8620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45" name="Picture 44" descr="spark-00C48C-128-1.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3995" y="3593592"/>
            <a:ext cx="292608" cy="29260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947339" y="3959352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UI educativa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47339" y="4197096"/>
            <a:ext cx="16459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7A9BB5"/>
                </a:solidFill>
                <a:latin typeface="Calibri"/>
              </a:rPr>
              <a:t>Markdown · infografía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12715" y="3967581"/>
            <a:ext cx="359587" cy="20116"/>
          </a:xfrm>
          <a:prstGeom prst="rect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 rot="16200000">
            <a:off x="4693843" y="3918203"/>
            <a:ext cx="118872" cy="118872"/>
          </a:xfrm>
          <a:prstGeom prst="triangle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218023" y="3447288"/>
            <a:ext cx="1755648" cy="1060704"/>
          </a:xfrm>
          <a:prstGeom prst="roundRect">
            <a:avLst>
              <a:gd name="adj" fmla="val 8620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51" name="Picture 50" descr="stream-00C48C-128-1.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9543" y="3593592"/>
            <a:ext cx="292608" cy="29260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272887" y="3959352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NDJSON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72887" y="4197096"/>
            <a:ext cx="16459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7A9BB5"/>
                </a:solidFill>
                <a:latin typeface="Calibri"/>
              </a:rPr>
              <a:t>delta · done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8263" y="3967581"/>
            <a:ext cx="359587" cy="20116"/>
          </a:xfrm>
          <a:prstGeom prst="rect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 rot="16200000">
            <a:off x="7019391" y="3918203"/>
            <a:ext cx="118872" cy="118872"/>
          </a:xfrm>
          <a:prstGeom prst="triangle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543571" y="3447288"/>
            <a:ext cx="1755648" cy="1060704"/>
          </a:xfrm>
          <a:prstGeom prst="roundRect">
            <a:avLst>
              <a:gd name="adj" fmla="val 8620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57" name="Picture 56" descr="layers-00C48C-128-1.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5091" y="3593592"/>
            <a:ext cx="292608" cy="29260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598435" y="3959352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Fragmentos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98435" y="4197096"/>
            <a:ext cx="16459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7A9BB5"/>
                </a:solidFill>
                <a:latin typeface="Calibri"/>
              </a:rPr>
              <a:t>fuente y score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63811" y="3967581"/>
            <a:ext cx="359587" cy="20116"/>
          </a:xfrm>
          <a:prstGeom prst="rect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Isosceles Triangle 60"/>
          <p:cNvSpPr/>
          <p:nvPr/>
        </p:nvSpPr>
        <p:spPr>
          <a:xfrm rot="16200000">
            <a:off x="9344939" y="3918203"/>
            <a:ext cx="118872" cy="118872"/>
          </a:xfrm>
          <a:prstGeom prst="triangle">
            <a:avLst/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869119" y="3447288"/>
            <a:ext cx="1755648" cy="1060704"/>
          </a:xfrm>
          <a:prstGeom prst="roundRect">
            <a:avLst>
              <a:gd name="adj" fmla="val 8620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63" name="Picture 62" descr="database-00C48C-128-1.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00639" y="3593592"/>
            <a:ext cx="292608" cy="29260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9923983" y="3959352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knowledge/*.md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23983" y="4197096"/>
            <a:ext cx="16459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7A9BB5"/>
                </a:solidFill>
                <a:latin typeface="Calibri"/>
              </a:rPr>
              <a:t>corpus local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66928" y="4892040"/>
            <a:ext cx="3533546" cy="841248"/>
          </a:xfrm>
          <a:prstGeom prst="roundRect">
            <a:avLst>
              <a:gd name="adj" fmla="val 10869"/>
            </a:avLst>
          </a:prstGeom>
          <a:solidFill>
            <a:srgbClr val="0D2B45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768096" y="5093207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68" name="Picture 67" descr="browser-00C48C-128-1.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34" y="5198546"/>
            <a:ext cx="228234" cy="228234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335024" y="5056631"/>
            <a:ext cx="261914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Navegador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35024" y="5312664"/>
            <a:ext cx="26191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A9BB5"/>
                </a:solidFill>
                <a:latin typeface="Calibri"/>
              </a:rPr>
              <a:t>Next.js · React · Tailwind · Web Speech API · avatar SVG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329074" y="4892040"/>
            <a:ext cx="3533546" cy="841248"/>
          </a:xfrm>
          <a:prstGeom prst="roundRect">
            <a:avLst>
              <a:gd name="adj" fmla="val 10869"/>
            </a:avLst>
          </a:prstGeom>
          <a:solidFill>
            <a:srgbClr val="0D2B45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4530242" y="5093207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73" name="Picture 72" descr="code-00C48C-128-1.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81" y="5198546"/>
            <a:ext cx="228234" cy="228234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097170" y="5056631"/>
            <a:ext cx="261914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Servidor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97170" y="5312664"/>
            <a:ext cx="26191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A9BB5"/>
                </a:solidFill>
                <a:latin typeface="Calibri"/>
              </a:rPr>
              <a:t>API Route · validación · tool use · RAG · streaming NDJSON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091220" y="4892040"/>
            <a:ext cx="3533546" cy="841248"/>
          </a:xfrm>
          <a:prstGeom prst="roundRect">
            <a:avLst>
              <a:gd name="adj" fmla="val 10869"/>
            </a:avLst>
          </a:prstGeom>
          <a:solidFill>
            <a:srgbClr val="0D2B45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7" name="Rounded Rectangle 76"/>
          <p:cNvSpPr/>
          <p:nvPr/>
        </p:nvSpPr>
        <p:spPr>
          <a:xfrm>
            <a:off x="8292388" y="5093207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78" name="Picture 77" descr="model-00C48C-128-1.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7727" y="5198546"/>
            <a:ext cx="228234" cy="228234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859316" y="5056631"/>
            <a:ext cx="261914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Anthropic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59316" y="5312664"/>
            <a:ext cx="26191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A9BB5"/>
                </a:solidFill>
                <a:latin typeface="Calibri"/>
              </a:rPr>
              <a:t>Claude Haiku · system prompt · function calling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66928" y="5861304"/>
            <a:ext cx="11057839" cy="457200"/>
          </a:xfrm>
          <a:prstGeom prst="roundRect">
            <a:avLst>
              <a:gd name="adj" fmla="val 16000"/>
            </a:avLst>
          </a:prstGeom>
          <a:solidFill>
            <a:srgbClr val="020F1C"/>
          </a:solidFill>
          <a:ln w="12700">
            <a:solidFill>
              <a:srgbClr val="FB56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82" name="Picture 81" descr="key-FB5604-128-1.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8096" y="5971032"/>
            <a:ext cx="237744" cy="237744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115568" y="5980176"/>
            <a:ext cx="10234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Frontera de seguridad: la API key vive solo en el servidor y en las variables protegidas de Vercel.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B5604"/>
                </a:solidFill>
                <a:latin typeface="Calibri"/>
              </a:rPr>
              <a:t>04 · INTELIGENCIA CON FUNDAMENTO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 i="0">
                <a:solidFill>
                  <a:srgbClr val="FFFFFF"/>
                </a:solidFill>
                <a:latin typeface="Calibri"/>
              </a:rPr>
              <a:t>Claude propone; Node ejecuta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97776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7A9BB5"/>
                </a:solidFill>
                <a:latin typeface="Calibri"/>
              </a:rPr>
              <a:t>Una sola herramienta, tal como pide el laboratorio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8404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A4A65"/>
                </a:solidFill>
                <a:latin typeface="Calibri"/>
              </a:rPr>
              <a:t>06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5860654" cy="786384"/>
          </a:xfrm>
          <a:prstGeom prst="roundRect">
            <a:avLst>
              <a:gd name="adj" fmla="val 11627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2148840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B5604"/>
                </a:solidFill>
                <a:latin typeface="Calibr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98448" y="20848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10" name="Picture 9" descr="model-00C48C-128-1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2194560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92807" y="2057400"/>
            <a:ext cx="430617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Prompt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2807" y="2313432"/>
            <a:ext cx="43061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A9BB5"/>
                </a:solidFill>
                <a:latin typeface="Calibri"/>
              </a:rPr>
              <a:t>Rol educativo, español claro, límite temático y formato de salida.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" y="2724912"/>
            <a:ext cx="20116" cy="91440"/>
          </a:xfrm>
          <a:prstGeom prst="rect">
            <a:avLst/>
          </a:prstGeom>
          <a:solidFill>
            <a:srgbClr val="2A4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10800000">
            <a:off x="969263" y="2816352"/>
            <a:ext cx="91440" cy="91440"/>
          </a:xfrm>
          <a:prstGeom prst="triangle">
            <a:avLst/>
          </a:prstGeom>
          <a:solidFill>
            <a:srgbClr val="2A4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907792"/>
            <a:ext cx="5860654" cy="786384"/>
          </a:xfrm>
          <a:prstGeom prst="roundRect">
            <a:avLst>
              <a:gd name="adj" fmla="val 11627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6384" y="3136392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B5604"/>
                </a:solidFill>
                <a:latin typeface="Calibri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98448" y="307238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18" name="Picture 17" descr="tool-00C48C-128-1.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3182112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892807" y="3044952"/>
            <a:ext cx="430617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Tool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2807" y="3300984"/>
            <a:ext cx="43061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A9BB5"/>
                </a:solidFill>
                <a:latin typeface="Calibri"/>
              </a:rPr>
              <a:t>Claude decide cuándo pedir consultar_conocimiento_tech.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" y="3712464"/>
            <a:ext cx="20116" cy="91440"/>
          </a:xfrm>
          <a:prstGeom prst="rect">
            <a:avLst/>
          </a:prstGeom>
          <a:solidFill>
            <a:srgbClr val="2A4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10800000">
            <a:off x="969263" y="3803904"/>
            <a:ext cx="91440" cy="91440"/>
          </a:xfrm>
          <a:prstGeom prst="triangle">
            <a:avLst/>
          </a:prstGeom>
          <a:solidFill>
            <a:srgbClr val="2A4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" y="3895344"/>
            <a:ext cx="5860654" cy="786384"/>
          </a:xfrm>
          <a:prstGeom prst="roundRect">
            <a:avLst>
              <a:gd name="adj" fmla="val 11627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86384" y="4123944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B5604"/>
                </a:solidFill>
                <a:latin typeface="Calibri"/>
              </a:rPr>
              <a:t>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98448" y="4059935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6" name="Picture 25" descr="search-00C48C-128-1.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176" y="4169663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892807" y="4032504"/>
            <a:ext cx="430617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RAG léxico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92807" y="4288536"/>
            <a:ext cx="43061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A9BB5"/>
                </a:solidFill>
                <a:latin typeface="Calibri"/>
              </a:rPr>
              <a:t>Node busca los términos relevantes en el corpus Markdown local.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4925" y="4700016"/>
            <a:ext cx="20116" cy="91440"/>
          </a:xfrm>
          <a:prstGeom prst="rect">
            <a:avLst/>
          </a:prstGeom>
          <a:solidFill>
            <a:srgbClr val="2A4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969263" y="4791456"/>
            <a:ext cx="91440" cy="91440"/>
          </a:xfrm>
          <a:prstGeom prst="triangle">
            <a:avLst/>
          </a:prstGeom>
          <a:solidFill>
            <a:srgbClr val="2A4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4882896"/>
            <a:ext cx="5860654" cy="786384"/>
          </a:xfrm>
          <a:prstGeom prst="roundRect">
            <a:avLst>
              <a:gd name="adj" fmla="val 11627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86384" y="5111496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B5604"/>
                </a:solidFill>
                <a:latin typeface="Calibri"/>
              </a:rPr>
              <a:t>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98448" y="50474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4" name="Picture 33" descr="spark-00C48C-128-1.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176" y="5157216"/>
            <a:ext cx="237744" cy="2377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892807" y="5020056"/>
            <a:ext cx="430617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Salida estructurada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92807" y="5276088"/>
            <a:ext cx="43061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A9BB5"/>
                </a:solidFill>
                <a:latin typeface="Calibri"/>
              </a:rPr>
              <a:t>Respuesta, resumen hablado, temas relacionados e infografía.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93342" y="1920240"/>
            <a:ext cx="4831424" cy="3749039"/>
          </a:xfrm>
          <a:prstGeom prst="roundRect">
            <a:avLst>
              <a:gd name="adj" fmla="val 2926"/>
            </a:avLst>
          </a:prstGeom>
          <a:solidFill>
            <a:srgbClr val="0D2B45"/>
          </a:solidFill>
          <a:ln w="12700">
            <a:solidFill>
              <a:srgbClr val="FB56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067662" y="2157984"/>
            <a:ext cx="4282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Contrato de la única herramienta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67662" y="2523744"/>
            <a:ext cx="4282784" cy="786384"/>
          </a:xfrm>
          <a:prstGeom prst="roundRect">
            <a:avLst>
              <a:gd name="adj" fmla="val 9302"/>
            </a:avLst>
          </a:prstGeom>
          <a:solidFill>
            <a:srgbClr val="02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232254" y="2651760"/>
            <a:ext cx="395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0C48C"/>
                </a:solidFill>
                <a:latin typeface="Calibri"/>
              </a:rPr>
              <a:t>consultar_conocimiento_tech({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0C48C"/>
                </a:solidFill>
                <a:latin typeface="Calibri"/>
              </a:rPr>
              <a:t>  consulta: "¿Qué es Git?"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0C48C"/>
                </a:solidFill>
                <a:latin typeface="Calibri"/>
              </a:rPr>
              <a:t>})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98996" y="3401568"/>
            <a:ext cx="20116" cy="210311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 rot="10800000">
            <a:off x="9149618" y="3611880"/>
            <a:ext cx="118872" cy="118872"/>
          </a:xfrm>
          <a:prstGeom prst="triangle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067662" y="3822191"/>
            <a:ext cx="4282784" cy="713232"/>
          </a:xfrm>
          <a:prstGeom prst="roundRect">
            <a:avLst>
              <a:gd name="adj" fmla="val 10256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232254" y="3950208"/>
            <a:ext cx="3953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120">
                <a:solidFill>
                  <a:srgbClr val="FB5604"/>
                </a:solidFill>
                <a:latin typeface="Calibri"/>
              </a:rPr>
              <a:t>RETORNO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32254" y="4169664"/>
            <a:ext cx="3953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Hasta 4 fragmentos, con fuente y score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067662" y="4645152"/>
            <a:ext cx="4282784" cy="960120"/>
          </a:xfrm>
          <a:prstGeom prst="roundRect">
            <a:avLst>
              <a:gd name="adj" fmla="val 7619"/>
            </a:avLst>
          </a:prstGeom>
          <a:solidFill>
            <a:srgbClr val="020F1C"/>
          </a:solidFill>
          <a:ln w="12700">
            <a:solidFill>
              <a:srgbClr val="00C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47" name="Picture 46" descr="shield-00C48C-128-1.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2254" y="4791456"/>
            <a:ext cx="237744" cy="23774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579726" y="4791456"/>
            <a:ext cx="37341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C48C"/>
                </a:solidFill>
                <a:latin typeface="Calibri"/>
              </a:rPr>
              <a:t>Sin alucinar fuentes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254" y="5084064"/>
            <a:ext cx="395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7A9BB5"/>
                </a:solidFill>
                <a:latin typeface="Calibri"/>
              </a:rPr>
              <a:t>Si no hay coincidencias, lo dice. Nunca finge una búsqueda en internet.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455664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A4A65"/>
                </a:solidFill>
                <a:latin typeface="Calibri"/>
              </a:rPr>
              <a:t>Nodi · Proyecto final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B5604"/>
                </a:solidFill>
                <a:latin typeface="Calibri"/>
              </a:rPr>
              <a:t>05 · CALIDAD VERIFICADA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 i="0">
                <a:solidFill>
                  <a:srgbClr val="FFFFFF"/>
                </a:solidFill>
                <a:latin typeface="Calibri"/>
              </a:rPr>
              <a:t>La confianza se construye por capas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97776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7A9BB5"/>
                </a:solidFill>
                <a:latin typeface="Calibri"/>
              </a:rPr>
              <a:t>Cada nivel reduce un tipo distinto de riesgo antes de publicar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8404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A4A65"/>
                </a:solidFill>
                <a:latin typeface="Calibri"/>
              </a:rPr>
              <a:t>07 / 10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2743200" y="2011680"/>
            <a:ext cx="1554480" cy="868680"/>
          </a:xfrm>
          <a:prstGeom prst="triangle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578608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E2E</a:t>
            </a:r>
          </a:p>
        </p:txBody>
      </p:sp>
      <p:sp>
        <p:nvSpPr>
          <p:cNvPr id="9" name="Trapezoid 8"/>
          <p:cNvSpPr/>
          <p:nvPr/>
        </p:nvSpPr>
        <p:spPr>
          <a:xfrm>
            <a:off x="1737360" y="2971800"/>
            <a:ext cx="3566160" cy="914400"/>
          </a:xfrm>
          <a:prstGeom prst="trapezoid">
            <a:avLst>
              <a:gd name="adj" fmla="val 28000"/>
            </a:avLst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3364992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20F1C"/>
                </a:solidFill>
                <a:latin typeface="Calibri"/>
              </a:rPr>
              <a:t>INTEGRACIÓN</a:t>
            </a:r>
          </a:p>
        </p:txBody>
      </p:sp>
      <p:sp>
        <p:nvSpPr>
          <p:cNvPr id="11" name="Trapezoid 10"/>
          <p:cNvSpPr/>
          <p:nvPr/>
        </p:nvSpPr>
        <p:spPr>
          <a:xfrm>
            <a:off x="685800" y="3977639"/>
            <a:ext cx="5669280" cy="1051560"/>
          </a:xfrm>
          <a:prstGeom prst="trapezoid">
            <a:avLst>
              <a:gd name="adj" fmla="val 19000"/>
            </a:avLst>
          </a:prstGeom>
          <a:solidFill>
            <a:srgbClr val="0A2540"/>
          </a:solidFill>
          <a:ln w="12700">
            <a:solidFill>
              <a:srgbClr val="2A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5669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UNITARIAS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45152"/>
            <a:ext cx="5669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A9BB5"/>
                </a:solidFill>
                <a:latin typeface="Calibri"/>
              </a:rPr>
              <a:t>parseo · validación · búsqueda léxica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257800"/>
            <a:ext cx="6217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7A9BB5"/>
                </a:solidFill>
                <a:latin typeface="Calibri"/>
              </a:rPr>
              <a:t>Base ancha, cima estrecha: muchas pruebas rápidas y pocas de navegador.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011680"/>
            <a:ext cx="4721047" cy="1170432"/>
          </a:xfrm>
          <a:prstGeom prst="roundRect">
            <a:avLst>
              <a:gd name="adj" fmla="val 7812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141464" y="22494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17" name="Picture 16" descr="code-00C48C-128-1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192" y="235915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26679" y="2231136"/>
            <a:ext cx="36694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Pruebas de lógica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2505456"/>
            <a:ext cx="366948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7A9BB5"/>
                </a:solidFill>
                <a:latin typeface="Calibri"/>
              </a:rPr>
              <a:t>Parseo de la respuesta e infografías, scoring léxico, RAG y validación del request.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3337560"/>
            <a:ext cx="4721047" cy="1170432"/>
          </a:xfrm>
          <a:prstGeom prst="roundRect">
            <a:avLst>
              <a:gd name="adj" fmla="val 7812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141464" y="35753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2" name="Picture 21" descr="browser-00C48C-128-1.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685032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26679" y="3557016"/>
            <a:ext cx="36694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Prueba E2E con Playwright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831336"/>
            <a:ext cx="366948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7A9BB5"/>
                </a:solidFill>
                <a:latin typeface="Calibri"/>
              </a:rPr>
              <a:t>Abre Chromium, pregunta “¿Qué es Git?”, verifica herramienta, RAG e infografía, y encadena un tema relacionado.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4663440"/>
            <a:ext cx="1084249" cy="713232"/>
          </a:xfrm>
          <a:prstGeom prst="roundRect">
            <a:avLst>
              <a:gd name="adj" fmla="val 11538"/>
            </a:avLst>
          </a:prstGeom>
          <a:solidFill>
            <a:srgbClr val="0D2B45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6" name="Picture 25" descr="check-00C48C-128-1.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972" y="4782312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03720" y="5084064"/>
            <a:ext cx="108424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Tests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5985" y="4663440"/>
            <a:ext cx="1084249" cy="713232"/>
          </a:xfrm>
          <a:prstGeom prst="roundRect">
            <a:avLst>
              <a:gd name="adj" fmla="val 11538"/>
            </a:avLst>
          </a:prstGeom>
          <a:solidFill>
            <a:srgbClr val="0D2B45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9" name="Picture 28" descr="check-00C48C-128-1.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9238" y="4782312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115985" y="5084064"/>
            <a:ext cx="108424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Tipos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8251" y="4663440"/>
            <a:ext cx="1084249" cy="713232"/>
          </a:xfrm>
          <a:prstGeom prst="roundRect">
            <a:avLst>
              <a:gd name="adj" fmla="val 11538"/>
            </a:avLst>
          </a:prstGeom>
          <a:solidFill>
            <a:srgbClr val="0D2B45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2" name="Picture 31" descr="check-00C48C-128-1.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1504" y="4782312"/>
            <a:ext cx="237744" cy="23774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328251" y="5084064"/>
            <a:ext cx="108424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Lint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40517" y="4663440"/>
            <a:ext cx="1084249" cy="713232"/>
          </a:xfrm>
          <a:prstGeom prst="roundRect">
            <a:avLst>
              <a:gd name="adj" fmla="val 11538"/>
            </a:avLst>
          </a:prstGeom>
          <a:solidFill>
            <a:srgbClr val="0D2B45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5" name="Picture 34" descr="check-00C48C-128-1.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3770" y="4782312"/>
            <a:ext cx="237744" cy="23774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540517" y="5084064"/>
            <a:ext cx="108424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03720" y="5532120"/>
            <a:ext cx="4721047" cy="548640"/>
          </a:xfrm>
          <a:prstGeom prst="roundRect">
            <a:avLst>
              <a:gd name="adj" fmla="val 13333"/>
            </a:avLst>
          </a:prstGeom>
          <a:solidFill>
            <a:srgbClr val="020F1C"/>
          </a:solidFill>
          <a:ln w="12700">
            <a:solidFill>
              <a:srgbClr val="00C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123176" y="5696712"/>
            <a:ext cx="4282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C48C"/>
                </a:solidFill>
                <a:latin typeface="Calibri"/>
              </a:rPr>
              <a:t>Un fallo bloquea el pipeline y deja evidencia reproducible.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55664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A4A65"/>
                </a:solidFill>
                <a:latin typeface="Calibri"/>
              </a:rPr>
              <a:t>Nodi · Proyecto final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B5604"/>
                </a:solidFill>
                <a:latin typeface="Calibri"/>
              </a:rPr>
              <a:t>06 · DEVOPS ·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 i="0">
                <a:solidFill>
                  <a:srgbClr val="FFFFFF"/>
                </a:solidFill>
                <a:latin typeface="Calibri"/>
              </a:rPr>
              <a:t>Un push activa dos caminos automáticos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97776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7A9BB5"/>
                </a:solidFill>
                <a:latin typeface="Calibri"/>
              </a:rPr>
              <a:t>GitHub conserva y verifica el código; Vercel publica la aplicación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8404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A4A65"/>
                </a:solidFill>
                <a:latin typeface="Calibri"/>
              </a:rPr>
              <a:t>08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1755648" cy="1097280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8" name="Picture 7" descr="code-00C48C-128-1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" y="2002536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2395728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Código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42616"/>
            <a:ext cx="16459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A9BB5"/>
                </a:solidFill>
                <a:latin typeface="Calibri"/>
              </a:rPr>
              <a:t>commit local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68296" y="2385669"/>
            <a:ext cx="359587" cy="20116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2727883" y="2336292"/>
            <a:ext cx="118872" cy="118872"/>
          </a:xfrm>
          <a:prstGeom prst="triangle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92475" y="1847088"/>
            <a:ext cx="1755648" cy="1097280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14" name="Picture 13" descr="git-00C48C-128-1.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851" y="2002536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47339" y="2395728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7339" y="2642616"/>
            <a:ext cx="16459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A9BB5"/>
                </a:solidFill>
                <a:latin typeface="Calibri"/>
              </a:rPr>
              <a:t>push a main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93843" y="2385669"/>
            <a:ext cx="359587" cy="20116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5053431" y="2336292"/>
            <a:ext cx="118872" cy="118872"/>
          </a:xfrm>
          <a:prstGeom prst="triangle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18023" y="1847088"/>
            <a:ext cx="1755648" cy="1097280"/>
          </a:xfrm>
          <a:prstGeom prst="roundRect">
            <a:avLst>
              <a:gd name="adj" fmla="val 8333"/>
            </a:avLst>
          </a:prstGeom>
          <a:solidFill>
            <a:srgbClr val="FB5604"/>
          </a:solidFill>
          <a:ln w="12700">
            <a:solidFill>
              <a:srgbClr val="FB56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0" name="Picture 19" descr="pipeline-FFFFFF-128-1.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399" y="2002536"/>
            <a:ext cx="310896" cy="3108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72887" y="2395728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GitHub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2887" y="2642616"/>
            <a:ext cx="16459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FFFFFF"/>
                </a:solidFill>
                <a:latin typeface="Calibri"/>
              </a:rPr>
              <a:t>verificación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19391" y="2385669"/>
            <a:ext cx="359587" cy="20116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5400000">
            <a:off x="7378979" y="2336292"/>
            <a:ext cx="118872" cy="118872"/>
          </a:xfrm>
          <a:prstGeom prst="triangle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43571" y="1847088"/>
            <a:ext cx="1755648" cy="1097280"/>
          </a:xfrm>
          <a:prstGeom prst="roundRect">
            <a:avLst>
              <a:gd name="adj" fmla="val 8333"/>
            </a:avLst>
          </a:prstGeom>
          <a:solidFill>
            <a:srgbClr val="FB5604"/>
          </a:solidFill>
          <a:ln w="12700">
            <a:solidFill>
              <a:srgbClr val="FB56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6" name="Picture 25" descr="deploy-FFFFFF-128-1.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5947" y="2002536"/>
            <a:ext cx="310896" cy="3108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98435" y="2395728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Vercel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98435" y="2642616"/>
            <a:ext cx="16459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FFFFFF"/>
                </a:solidFill>
                <a:latin typeface="Calibri"/>
              </a:rPr>
              <a:t>build y deploy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44939" y="2385669"/>
            <a:ext cx="359587" cy="20116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5400000">
            <a:off x="9704527" y="2336292"/>
            <a:ext cx="118872" cy="118872"/>
          </a:xfrm>
          <a:prstGeom prst="triangle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869119" y="1847088"/>
            <a:ext cx="1755648" cy="1097280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2" name="Picture 31" descr="browser-00C48C-128-1.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1495" y="2002536"/>
            <a:ext cx="310896" cy="3108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923983" y="2395728"/>
            <a:ext cx="16459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Producción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3983" y="2642616"/>
            <a:ext cx="16459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A9BB5"/>
                </a:solidFill>
                <a:latin typeface="Calibri"/>
              </a:rPr>
              <a:t>URL pública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3310127"/>
            <a:ext cx="5368899" cy="2286000"/>
          </a:xfrm>
          <a:prstGeom prst="roundRect">
            <a:avLst>
              <a:gd name="adj" fmla="val 4800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822960" y="3529583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7" name="Picture 36" descr="pipeline-00C48C-128-1.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3639311"/>
            <a:ext cx="237744" cy="23774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408176" y="3529583"/>
            <a:ext cx="354009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GitHub Actions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08176" y="3803904"/>
            <a:ext cx="35400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A9BB5"/>
                </a:solidFill>
                <a:latin typeface="Calibri"/>
              </a:rPr>
              <a:t>Integración continua en cada push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50027" y="3566159"/>
            <a:ext cx="367954" cy="274320"/>
          </a:xfrm>
          <a:prstGeom prst="roundRect">
            <a:avLst>
              <a:gd name="adj" fmla="val 50000"/>
            </a:avLst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20F1C"/>
                </a:solidFill>
                <a:latin typeface="Calibri"/>
              </a:rPr>
              <a:t>CI</a:t>
            </a:r>
          </a:p>
        </p:txBody>
      </p:sp>
      <p:pic>
        <p:nvPicPr>
          <p:cNvPr id="41" name="Picture 40" descr="check-00C48C-128-1.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" y="4197095"/>
            <a:ext cx="173736" cy="17373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33856" y="4178807"/>
            <a:ext cx="45459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npm ci</a:t>
            </a:r>
          </a:p>
        </p:txBody>
      </p:sp>
      <p:pic>
        <p:nvPicPr>
          <p:cNvPr id="43" name="Picture 42" descr="check-00C48C-128-1.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" y="4462271"/>
            <a:ext cx="173736" cy="17373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133856" y="4443983"/>
            <a:ext cx="45459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Pruebas unitarias e integración</a:t>
            </a:r>
          </a:p>
        </p:txBody>
      </p:sp>
      <p:pic>
        <p:nvPicPr>
          <p:cNvPr id="45" name="Picture 44" descr="check-00C48C-128-1.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" y="4727447"/>
            <a:ext cx="173736" cy="17373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133856" y="4709159"/>
            <a:ext cx="45459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TypeScript y ESLint</a:t>
            </a:r>
          </a:p>
        </p:txBody>
      </p:sp>
      <p:pic>
        <p:nvPicPr>
          <p:cNvPr id="47" name="Picture 46" descr="check-00C48C-128-1.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" y="4992623"/>
            <a:ext cx="173736" cy="17373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33856" y="4974336"/>
            <a:ext cx="45459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Build de producción</a:t>
            </a:r>
          </a:p>
        </p:txBody>
      </p:sp>
      <p:pic>
        <p:nvPicPr>
          <p:cNvPr id="49" name="Picture 48" descr="check-00C48C-128-1.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" y="5257799"/>
            <a:ext cx="173736" cy="17373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133856" y="5239512"/>
            <a:ext cx="45459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Playwright en Chromium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55867" y="3310127"/>
            <a:ext cx="5368899" cy="2286000"/>
          </a:xfrm>
          <a:prstGeom prst="roundRect">
            <a:avLst>
              <a:gd name="adj" fmla="val 4800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6511899" y="3529583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53" name="Picture 52" descr="cloud-00C48C-128-1.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1627" y="3639311"/>
            <a:ext cx="237744" cy="23774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097115" y="3529583"/>
            <a:ext cx="354009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Vercel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97115" y="3803904"/>
            <a:ext cx="35400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A9BB5"/>
                </a:solidFill>
                <a:latin typeface="Calibri"/>
              </a:rPr>
              <a:t>Entrega continua sin pasos manuales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911535" y="3566159"/>
            <a:ext cx="367954" cy="274320"/>
          </a:xfrm>
          <a:prstGeom prst="roundRect">
            <a:avLst>
              <a:gd name="adj" fmla="val 50000"/>
            </a:avLst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48475" y="4178807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2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58" name="Picture 57" descr="git-00C48C-128-1.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479" y="4257812"/>
            <a:ext cx="171175" cy="17117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005675" y="4224527"/>
            <a:ext cx="43630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Detecta el commit en main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03009" y="4526279"/>
            <a:ext cx="20116" cy="73152"/>
          </a:xfrm>
          <a:prstGeom prst="rect">
            <a:avLst/>
          </a:prstGeom>
          <a:solidFill>
            <a:srgbClr val="2A4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Isosceles Triangle 60"/>
          <p:cNvSpPr/>
          <p:nvPr/>
        </p:nvSpPr>
        <p:spPr>
          <a:xfrm rot="10800000">
            <a:off x="6676491" y="4599431"/>
            <a:ext cx="73152" cy="73152"/>
          </a:xfrm>
          <a:prstGeom prst="triangle">
            <a:avLst/>
          </a:prstGeom>
          <a:solidFill>
            <a:srgbClr val="2A4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548475" y="4672583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2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63" name="Picture 62" descr="code-00C48C-128-1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479" y="4751588"/>
            <a:ext cx="171175" cy="171175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005675" y="4718303"/>
            <a:ext cx="43630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Construye la app Next.js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03009" y="5020055"/>
            <a:ext cx="20116" cy="73152"/>
          </a:xfrm>
          <a:prstGeom prst="rect">
            <a:avLst/>
          </a:prstGeom>
          <a:solidFill>
            <a:srgbClr val="2A4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Isosceles Triangle 65"/>
          <p:cNvSpPr/>
          <p:nvPr/>
        </p:nvSpPr>
        <p:spPr>
          <a:xfrm rot="10800000">
            <a:off x="6676491" y="5093207"/>
            <a:ext cx="73152" cy="73152"/>
          </a:xfrm>
          <a:prstGeom prst="triangle">
            <a:avLst/>
          </a:prstGeom>
          <a:solidFill>
            <a:srgbClr val="2A4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548475" y="5166359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2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68" name="Picture 67" descr="browser-00C48C-128-1.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479" y="5245364"/>
            <a:ext cx="171175" cy="171175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005675" y="5212079"/>
            <a:ext cx="43630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Publica la nueva versión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66928" y="5742431"/>
            <a:ext cx="11057839" cy="475488"/>
          </a:xfrm>
          <a:prstGeom prst="roundRect">
            <a:avLst>
              <a:gd name="adj" fmla="val 15384"/>
            </a:avLst>
          </a:prstGeom>
          <a:solidFill>
            <a:srgbClr val="020F1C"/>
          </a:solidFill>
          <a:ln w="12700">
            <a:solidFill>
              <a:srgbClr val="FB56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71" name="Picture 70" descr="layers-FB5604-128-1.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096" y="5861303"/>
            <a:ext cx="237744" cy="237744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115568" y="5870447"/>
            <a:ext cx="10234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Precisión: hoy CI y Vercel arrancan en paralelo desde el mismo push; ambos quedan como evidencia del despliegue.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B5604"/>
                </a:solidFill>
                <a:latin typeface="Calibri"/>
              </a:rPr>
              <a:t>07 · DECISIONES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 i="0">
                <a:solidFill>
                  <a:srgbClr val="FFFFFF"/>
                </a:solidFill>
                <a:latin typeface="Calibri"/>
              </a:rPr>
              <a:t>Menos piezas, más claridad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97776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7A9BB5"/>
                </a:solidFill>
                <a:latin typeface="Calibri"/>
              </a:rPr>
              <a:t>Cada decisión prioriza aprendizaje, trazabilidad y alcance controlado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8404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A4A65"/>
                </a:solidFill>
                <a:latin typeface="Calibri"/>
              </a:rPr>
              <a:t>09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3503066" cy="2377440"/>
          </a:xfrm>
          <a:prstGeom prst="roundRect">
            <a:avLst>
              <a:gd name="adj" fmla="val 4615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41247" y="2194560"/>
            <a:ext cx="548640" cy="548640"/>
          </a:xfrm>
          <a:prstGeom prst="roundRect">
            <a:avLst>
              <a:gd name="adj" fmla="val 16666"/>
            </a:avLst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9" name="Picture 8" descr="tool-FFFFFF-128-1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21" y="2326233"/>
            <a:ext cx="285292" cy="2852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92754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 i="0">
                <a:solidFill>
                  <a:srgbClr val="2A4A65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907792"/>
            <a:ext cx="29544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Una sola herramienta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273552"/>
            <a:ext cx="295442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A9BB5"/>
                </a:solidFill>
                <a:latin typeface="Calibri"/>
              </a:rPr>
              <a:t>Cumple el laboratorio y hace observable el contrato entre modelo y código.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7" y="3877056"/>
            <a:ext cx="2954426" cy="18288"/>
          </a:xfrm>
          <a:prstGeom prst="roundRect">
            <a:avLst>
              <a:gd name="adj" fmla="val 0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968496"/>
            <a:ext cx="295442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2A4A65"/>
                </a:solidFill>
                <a:latin typeface="Calibri"/>
              </a:rPr>
              <a:t>Sin orquestaciones innecesarias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4314" y="1920240"/>
            <a:ext cx="3503066" cy="2377440"/>
          </a:xfrm>
          <a:prstGeom prst="roundRect">
            <a:avLst>
              <a:gd name="adj" fmla="val 4615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618634" y="2194560"/>
            <a:ext cx="548640" cy="548640"/>
          </a:xfrm>
          <a:prstGeom prst="roundRect">
            <a:avLst>
              <a:gd name="adj" fmla="val 16666"/>
            </a:avLst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17" name="Picture 16" descr="search-FFFFFF-128-1.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308" y="2326233"/>
            <a:ext cx="285292" cy="2852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70140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 i="0">
                <a:solidFill>
                  <a:srgbClr val="2A4A65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8634" y="2907792"/>
            <a:ext cx="29544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RAG léxico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8634" y="3273552"/>
            <a:ext cx="295442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A9BB5"/>
                </a:solidFill>
                <a:latin typeface="Calibri"/>
              </a:rPr>
              <a:t>Simple, local, explicable y sin costo adicional de infraestructura.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8634" y="3877056"/>
            <a:ext cx="2954426" cy="18288"/>
          </a:xfrm>
          <a:prstGeom prst="roundRect">
            <a:avLst>
              <a:gd name="adj" fmla="val 0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618634" y="3968496"/>
            <a:ext cx="295442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2A4A65"/>
                </a:solidFill>
                <a:latin typeface="Calibri"/>
              </a:rPr>
              <a:t>Sin base vectorial ni embeddings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1700" y="1920240"/>
            <a:ext cx="3503066" cy="2377440"/>
          </a:xfrm>
          <a:prstGeom prst="roundRect">
            <a:avLst>
              <a:gd name="adj" fmla="val 4615"/>
            </a:avLst>
          </a:prstGeom>
          <a:solidFill>
            <a:srgbClr val="0A2540"/>
          </a:solidFill>
          <a:ln w="12700">
            <a:solidFill>
              <a:srgbClr val="1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396020" y="2194560"/>
            <a:ext cx="548640" cy="548640"/>
          </a:xfrm>
          <a:prstGeom prst="roundRect">
            <a:avLst>
              <a:gd name="adj" fmla="val 16666"/>
            </a:avLst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5" name="Picture 24" descr="stream-FFFFFF-128-1.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7694" y="2326233"/>
            <a:ext cx="285292" cy="28529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847527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1" i="0">
                <a:solidFill>
                  <a:srgbClr val="2A4A65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6020" y="2907792"/>
            <a:ext cx="29544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Haiku con NDJSON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6020" y="3273552"/>
            <a:ext cx="295442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A9BB5"/>
                </a:solidFill>
                <a:latin typeface="Calibri"/>
              </a:rPr>
              <a:t>Menor latencia percibida: el texto aparece mientras se genera.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96020" y="3877056"/>
            <a:ext cx="2954426" cy="18288"/>
          </a:xfrm>
          <a:prstGeom prst="roundRect">
            <a:avLst>
              <a:gd name="adj" fmla="val 0"/>
            </a:avLst>
          </a:prstGeom>
          <a:solidFill>
            <a:srgbClr val="1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396020" y="3968496"/>
            <a:ext cx="295442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2A4A65"/>
                </a:solidFill>
                <a:latin typeface="Calibri"/>
              </a:rPr>
              <a:t>Sin esperar la respuesta completa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52628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FB5604"/>
                </a:solidFill>
                <a:latin typeface="Calibri"/>
              </a:rPr>
              <a:t>COBERTURA DE LA RÚBRICA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837176"/>
            <a:ext cx="1721053" cy="713232"/>
          </a:xfrm>
          <a:prstGeom prst="roundRect">
            <a:avLst>
              <a:gd name="adj" fmla="val 11538"/>
            </a:avLst>
          </a:prstGeom>
          <a:solidFill>
            <a:srgbClr val="0D2B45"/>
          </a:solidFill>
          <a:ln w="12700">
            <a:solidFill>
              <a:srgbClr val="00C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3" name="Picture 32" descr="check-00C48C-128-1.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8582" y="4946904"/>
            <a:ext cx="237744" cy="23774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12648" y="5239512"/>
            <a:ext cx="16296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End-to-end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34285" y="4837176"/>
            <a:ext cx="1721053" cy="713232"/>
          </a:xfrm>
          <a:prstGeom prst="roundRect">
            <a:avLst>
              <a:gd name="adj" fmla="val 11538"/>
            </a:avLst>
          </a:prstGeom>
          <a:solidFill>
            <a:srgbClr val="0D2B45"/>
          </a:solidFill>
          <a:ln w="12700">
            <a:solidFill>
              <a:srgbClr val="00C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6" name="Picture 35" descr="check-00C48C-128-1.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939" y="4946904"/>
            <a:ext cx="237744" cy="23774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480005" y="5239512"/>
            <a:ext cx="16296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Datos reales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01642" y="4837176"/>
            <a:ext cx="1721053" cy="713232"/>
          </a:xfrm>
          <a:prstGeom prst="roundRect">
            <a:avLst>
              <a:gd name="adj" fmla="val 11538"/>
            </a:avLst>
          </a:prstGeom>
          <a:solidFill>
            <a:srgbClr val="0D2B45"/>
          </a:solidFill>
          <a:ln w="12700">
            <a:solidFill>
              <a:srgbClr val="00C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9" name="Picture 38" descr="check-00C48C-128-1.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297" y="4946904"/>
            <a:ext cx="237744" cy="23774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347362" y="5239512"/>
            <a:ext cx="16296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IA con fundamento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68999" y="4837176"/>
            <a:ext cx="1721053" cy="713232"/>
          </a:xfrm>
          <a:prstGeom prst="roundRect">
            <a:avLst>
              <a:gd name="adj" fmla="val 11538"/>
            </a:avLst>
          </a:prstGeom>
          <a:solidFill>
            <a:srgbClr val="0D2B45"/>
          </a:solidFill>
          <a:ln w="12700">
            <a:solidFill>
              <a:srgbClr val="00C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42" name="Picture 41" descr="check-00C48C-128-1.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0654" y="4946904"/>
            <a:ext cx="237744" cy="23774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14719" y="5239512"/>
            <a:ext cx="16296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Pruebas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36356" y="4837176"/>
            <a:ext cx="1721053" cy="713232"/>
          </a:xfrm>
          <a:prstGeom prst="roundRect">
            <a:avLst>
              <a:gd name="adj" fmla="val 11538"/>
            </a:avLst>
          </a:prstGeom>
          <a:solidFill>
            <a:srgbClr val="0D2B45"/>
          </a:solidFill>
          <a:ln w="12700">
            <a:solidFill>
              <a:srgbClr val="00C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45" name="Picture 44" descr="check-00C48C-128-1.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011" y="4946904"/>
            <a:ext cx="237744" cy="23774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082076" y="5239512"/>
            <a:ext cx="16296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Publicado y vivo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03714" y="4837176"/>
            <a:ext cx="1721053" cy="713232"/>
          </a:xfrm>
          <a:prstGeom prst="roundRect">
            <a:avLst>
              <a:gd name="adj" fmla="val 11538"/>
            </a:avLst>
          </a:prstGeom>
          <a:solidFill>
            <a:srgbClr val="0D2B45"/>
          </a:solidFill>
          <a:ln w="12700">
            <a:solidFill>
              <a:srgbClr val="00C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48" name="Picture 47" descr="check-00C48C-128-1.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5368" y="4946904"/>
            <a:ext cx="237744" cy="23774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949434" y="5239512"/>
            <a:ext cx="162961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Criterio propio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455664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A4A65"/>
                </a:solidFill>
                <a:latin typeface="Calibri"/>
              </a:rPr>
              <a:t>Nodi · Proyecto final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0"/>
            </a:avLst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60">
                <a:solidFill>
                  <a:srgbClr val="FB5604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1371600"/>
            <a:ext cx="6035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Nodi convierte arquitectura en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A9BB5"/>
                </a:solidFill>
                <a:latin typeface="Calibri"/>
              </a:rPr>
              <a:t>No solo responde preguntas: muestra el recorrido de la información, fundamenta lo que dice y demuestra que fue probado y publicado.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75887"/>
            <a:ext cx="45720" cy="1481328"/>
          </a:xfrm>
          <a:prstGeom prst="roundRect">
            <a:avLst>
              <a:gd name="adj" fmla="val 0"/>
            </a:avLst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88720" y="3675887"/>
            <a:ext cx="5029200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Una función.</a:t>
            </a:r>
          </a:p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Un corpus.</a:t>
            </a:r>
          </a:p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Un stream.</a:t>
            </a:r>
          </a:p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Un push.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532120"/>
            <a:ext cx="2033625" cy="310896"/>
          </a:xfrm>
          <a:prstGeom prst="roundRect">
            <a:avLst>
              <a:gd name="adj" fmla="val 50000"/>
            </a:avLst>
          </a:prstGeom>
          <a:solidFill>
            <a:srgbClr val="00C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20F1C"/>
                </a:solidFill>
                <a:latin typeface="Calibri"/>
              </a:rPr>
              <a:t>Aplicación publicada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76041" y="5532120"/>
            <a:ext cx="120079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CI en verde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4847" y="5532120"/>
            <a:ext cx="2126162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Repositorio en 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53328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A9BB5"/>
                </a:solidFill>
                <a:latin typeface="Calibri"/>
              </a:rPr>
              <a:t>tecno-chatbot-portal.vercel.app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09760" y="1737360"/>
            <a:ext cx="1608845" cy="1168894"/>
          </a:xfrm>
          <a:prstGeom prst="line">
            <a:avLst/>
          </a:prstGeom>
          <a:ln w="19050">
            <a:solidFill>
              <a:srgbClr val="1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504081" y="2906254"/>
            <a:ext cx="614524" cy="1891311"/>
          </a:xfrm>
          <a:prstGeom prst="line">
            <a:avLst/>
          </a:prstGeom>
          <a:ln w="19050">
            <a:solidFill>
              <a:srgbClr val="1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515438" y="4797565"/>
            <a:ext cx="1988643" cy="0"/>
          </a:xfrm>
          <a:prstGeom prst="line">
            <a:avLst/>
          </a:prstGeom>
          <a:ln w="19050">
            <a:solidFill>
              <a:srgbClr val="1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7900914" y="2906254"/>
            <a:ext cx="614524" cy="1891311"/>
          </a:xfrm>
          <a:prstGeom prst="line">
            <a:avLst/>
          </a:prstGeom>
          <a:ln w="19050">
            <a:solidFill>
              <a:srgbClr val="1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900914" y="1737360"/>
            <a:ext cx="1608846" cy="1168894"/>
          </a:xfrm>
          <a:prstGeom prst="line">
            <a:avLst/>
          </a:prstGeom>
          <a:ln w="19050">
            <a:solidFill>
              <a:srgbClr val="1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23960" y="2743200"/>
            <a:ext cx="1371600" cy="1371600"/>
          </a:xfrm>
          <a:prstGeom prst="roundRect">
            <a:avLst>
              <a:gd name="adj" fmla="val 50000"/>
            </a:avLst>
          </a:prstGeom>
          <a:solidFill>
            <a:srgbClr val="FB5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18" name="Picture 17" descr="agent-FFFFFF-128-1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3081528"/>
            <a:ext cx="694944" cy="69494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144000" y="137160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 w="12700">
            <a:solidFill>
              <a:srgbClr val="2A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0" name="Picture 19" descr="user-00C48C-128-1.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1563624"/>
            <a:ext cx="347472" cy="3474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86800" y="2157984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A9BB5"/>
                </a:solidFill>
                <a:latin typeface="Calibri"/>
              </a:rPr>
              <a:t>Pregunta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52845" y="2540494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 w="12700">
            <a:solidFill>
              <a:srgbClr val="2A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3" name="Picture 22" descr="database-00C48C-128-1.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4869" y="2732518"/>
            <a:ext cx="347472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95645" y="3326878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A9BB5"/>
                </a:solidFill>
                <a:latin typeface="Calibri"/>
              </a:rPr>
              <a:t>Corpus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38321" y="4431805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 w="12700">
            <a:solidFill>
              <a:srgbClr val="2A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6" name="Picture 25" descr="stream-00C48C-128-1.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0345" y="4623829"/>
            <a:ext cx="347472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81121" y="5218189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A9BB5"/>
                </a:solidFill>
                <a:latin typeface="Calibri"/>
              </a:rPr>
              <a:t>Respuesta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9678" y="4431805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 w="12700">
            <a:solidFill>
              <a:srgbClr val="2A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29" name="Picture 28" descr="git-00C48C-128-1.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1702" y="4623829"/>
            <a:ext cx="347472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692478" y="5218189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A9BB5"/>
                </a:solidFill>
                <a:latin typeface="Calibri"/>
              </a:rPr>
              <a:t>Repositorio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35154" y="2540494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 w="12700">
            <a:solidFill>
              <a:srgbClr val="2A4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2" name="Picture 31" descr="deploy-00C48C-128-1.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7178" y="2732518"/>
            <a:ext cx="347472" cy="3474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077954" y="3326878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A9BB5"/>
                </a:solidFill>
                <a:latin typeface="Calibri"/>
              </a:rPr>
              <a:t>Despliegue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